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4F3E-BCA4-E45C-5003-478EA3379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834C2-721A-0D35-493B-E8B8EB4DE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C89E7-898B-C287-B2A1-65A4CC8E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22480-E01F-87A7-86A8-7107C5FB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8EC17-7084-ED60-6030-DC177368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71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143C-91E0-0762-1169-2373D418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72CF-FB49-2AF4-ED35-7AD5610F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E85C6-50AE-3156-0896-1A125FC6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925D1-8162-F160-6263-5438516F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A0B0C-D10A-D4A1-F41A-A4E83418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9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F22C-6244-2BAD-5B32-99416D90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D96E4-2D9D-896D-EB7B-774CFCFB6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444DA-03FE-4C5C-7BA4-1EFDF667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6939-57C4-23C5-83CA-BF72888A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99C14-3A78-6C00-96F0-0E0DA5A9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33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4358-89D0-D2C7-47B5-0406D8A2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7CD6D-26D6-304A-C827-2752569A7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E5040-0B25-CD02-B13E-5E2A916B6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FF9AC-AA8E-DF68-5B6E-3BFE1B0D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3094F-C6E2-4DBE-0BDD-04998B88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B49B4-CB6E-3EBC-44D1-B9A1C13B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19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1068-613B-27E6-08B1-097D54D5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78BD0-9A66-9884-EFA3-FC901C285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498D2-0FD5-E418-00EC-5CD4B4B4D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6CE15-8EFF-0DC9-017B-7A69D1C66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028CC-7F45-1655-B596-E99188E1C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ED9C7-D19F-3691-32A3-BDF61C9A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408B79-3A19-5A6A-0F52-11B0E24F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461BD5-465B-5E54-540B-CA796ED6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902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1895-9E11-C3A8-68E7-A7DB1DB4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15F36-FF65-F185-9322-860B1C19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B76C1-CDCE-6E46-4B40-AD70474E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B63F-0CFB-0F69-06C5-E6A44255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2B8AE7-193D-DB4F-6E36-C5DF0562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A2403-3038-FE1D-7829-9E597848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AC29E-07AD-175A-5996-D8ADBC2B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3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05089-EF0C-4FF3-FDA7-6094E4D6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15DDE-EAE2-E55D-CC45-407AC127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1B87B-71DB-3F2C-7009-87117E4E5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A95CA-6BD0-538B-3FB8-2120C457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C49D5-C444-B6CE-F6F0-4494E486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34278-7AA0-2ED0-703D-4D812DD8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190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CDDA-5E5B-7B5C-944C-466B966A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EEC1B-9775-CD3B-0504-26226A0F2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856AB-F9AC-6619-A097-33F6205DC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73580-82FA-1103-CCC0-B2439C0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AA025-2A1D-0508-F4FE-7D28F6E7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05B49-8146-50AB-9111-1E5399CD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60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42CF-5B88-7C2B-8ECA-DDCC6FDA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13522-B199-F12D-FFA7-B9D0F8473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B6F8B-92F1-B12F-6B15-997C205F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AB10-84F2-C92B-1F8D-600B5824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2B016-D2DF-1A9F-FD6E-58918667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8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14081-0BF2-1133-5FE9-F8AA81964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4A1A1-13D5-8A0C-3C86-82A6F0A49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F3D19-6BF3-7DF0-B0EB-70C49A8C8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598D6-27C1-3934-58B7-E05697D3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19576-4771-FF0C-38B8-37631996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84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660F2-269E-EB7C-23DC-CAFDF002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FC341-6CC4-73F3-FCB3-44F1B8A6F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EDF1B-454B-7FE5-0114-01AEC6240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389A7-371C-44D4-ACC1-B7AE2A8BCBD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73D46-29FA-1A83-A769-F0B22F8E8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FA820-4A91-3A30-DC1B-955A7EE0F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F045E-A104-43D5-9A55-FE6E690BA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6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E76A5-7A52-61EA-C5C2-48BE47A73F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922408-4BC5-2714-48EE-24514C1BB1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8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494A9-CDA2-5694-0F4F-62C67F3D99C2}"/>
              </a:ext>
            </a:extLst>
          </p:cNvPr>
          <p:cNvSpPr txBox="1"/>
          <p:nvPr/>
        </p:nvSpPr>
        <p:spPr>
          <a:xfrm>
            <a:off x="762000" y="2413000"/>
            <a:ext cx="1066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6000" b="1">
                <a:solidFill>
                  <a:srgbClr val="FFFFFF"/>
                </a:solidFill>
                <a:latin typeface="Segoe UI" panose="020B0502040204020203" pitchFamily="34" charset="0"/>
              </a:rPr>
              <a:t>TERRATRACE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50147-7A14-22E1-AE1B-F7C7B581AF52}"/>
              </a:ext>
            </a:extLst>
          </p:cNvPr>
          <p:cNvSpPr txBox="1"/>
          <p:nvPr/>
        </p:nvSpPr>
        <p:spPr>
          <a:xfrm>
            <a:off x="762000" y="3556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400">
                <a:solidFill>
                  <a:srgbClr val="22D3EE"/>
                </a:solidFill>
                <a:latin typeface="Segoe UI" panose="020B0502040204020203" pitchFamily="34" charset="0"/>
              </a:rPr>
              <a:t>AI + Satellite Methane Intelligence for Oil and Gas Operators</a:t>
            </a:r>
            <a:endParaRPr lang="en-IN" sz="2400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83A7-6A39-8A42-7736-DBD67818F64A}"/>
              </a:ext>
            </a:extLst>
          </p:cNvPr>
          <p:cNvSpPr txBox="1"/>
          <p:nvPr/>
        </p:nvSpPr>
        <p:spPr>
          <a:xfrm>
            <a:off x="762000" y="58420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Final Pitch Deck   -   July 2026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868E8C-EECC-D756-F9E5-4A7627C7BC3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97619-5DAB-636D-C1EE-9BE88CC6C7E5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C8A0D-DBAA-CC34-359C-2F7C4155A09C}"/>
              </a:ext>
            </a:extLst>
          </p:cNvPr>
          <p:cNvSpPr txBox="1"/>
          <p:nvPr/>
        </p:nvSpPr>
        <p:spPr>
          <a:xfrm>
            <a:off x="762000" y="1270000"/>
            <a:ext cx="1066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94A3B8"/>
                </a:solidFill>
                <a:latin typeface="Segoe UI" panose="020B0502040204020203" pitchFamily="34" charset="0"/>
              </a:rPr>
              <a:t>Oil and gas methane leaks are the fastest available lever to slow near-term warming - and abatement is frequently free</a:t>
            </a:r>
            <a:endParaRPr lang="en-IN" sz="15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9944D-BD62-16FC-FF91-E378945D4FAC}"/>
              </a:ext>
            </a:extLst>
          </p:cNvPr>
          <p:cNvSpPr/>
          <p:nvPr/>
        </p:nvSpPr>
        <p:spPr>
          <a:xfrm>
            <a:off x="762000" y="2286000"/>
            <a:ext cx="2540000" cy="1905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93A28-9368-B6EA-889C-9A2981414638}"/>
              </a:ext>
            </a:extLst>
          </p:cNvPr>
          <p:cNvSpPr txBox="1"/>
          <p:nvPr/>
        </p:nvSpPr>
        <p:spPr>
          <a:xfrm>
            <a:off x="762000" y="2514600"/>
            <a:ext cx="254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22D3EE"/>
                </a:solidFill>
                <a:latin typeface="Segoe UI" panose="020B0502040204020203" pitchFamily="34" charset="0"/>
              </a:rPr>
              <a:t>124 Mt/yr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63DF5-2E08-13E9-1D7C-0DEB8A2DB19F}"/>
              </a:ext>
            </a:extLst>
          </p:cNvPr>
          <p:cNvSpPr txBox="1"/>
          <p:nvPr/>
        </p:nvSpPr>
        <p:spPr>
          <a:xfrm>
            <a:off x="889000" y="3200400"/>
            <a:ext cx="228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Fossil methane emissions (IEA Global Methane Tracker 2026)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6F03AC-3960-CDF7-3AB5-B68121F2F103}"/>
              </a:ext>
            </a:extLst>
          </p:cNvPr>
          <p:cNvSpPr/>
          <p:nvPr/>
        </p:nvSpPr>
        <p:spPr>
          <a:xfrm>
            <a:off x="3556000" y="2286000"/>
            <a:ext cx="2540000" cy="1905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75C76-E96C-6871-BC9A-E35DCFEC6BD2}"/>
              </a:ext>
            </a:extLst>
          </p:cNvPr>
          <p:cNvSpPr txBox="1"/>
          <p:nvPr/>
        </p:nvSpPr>
        <p:spPr>
          <a:xfrm>
            <a:off x="3556000" y="2514600"/>
            <a:ext cx="254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6346FF"/>
                </a:solidFill>
                <a:latin typeface="Segoe UI" panose="020B0502040204020203" pitchFamily="34" charset="0"/>
              </a:rPr>
              <a:t>$34B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607856-D162-78C5-7C70-AFF3806264E9}"/>
              </a:ext>
            </a:extLst>
          </p:cNvPr>
          <p:cNvSpPr txBox="1"/>
          <p:nvPr/>
        </p:nvSpPr>
        <p:spPr>
          <a:xfrm>
            <a:off x="3683000" y="3200400"/>
            <a:ext cx="228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Lost product value from leaked gas every year (UNEP)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4A1C33-CB08-CEC1-16D8-1EB1684AA360}"/>
              </a:ext>
            </a:extLst>
          </p:cNvPr>
          <p:cNvSpPr/>
          <p:nvPr/>
        </p:nvSpPr>
        <p:spPr>
          <a:xfrm>
            <a:off x="6350000" y="2286000"/>
            <a:ext cx="2540000" cy="1905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239E05-9303-4FF2-1EEA-4F370F752E7D}"/>
              </a:ext>
            </a:extLst>
          </p:cNvPr>
          <p:cNvSpPr txBox="1"/>
          <p:nvPr/>
        </p:nvSpPr>
        <p:spPr>
          <a:xfrm>
            <a:off x="6350000" y="2514600"/>
            <a:ext cx="254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ED8936"/>
                </a:solidFill>
                <a:latin typeface="Segoe UI" panose="020B0502040204020203" pitchFamily="34" charset="0"/>
              </a:rPr>
              <a:t>80x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11AE3-E533-EB86-A601-1560E9B08D97}"/>
              </a:ext>
            </a:extLst>
          </p:cNvPr>
          <p:cNvSpPr txBox="1"/>
          <p:nvPr/>
        </p:nvSpPr>
        <p:spPr>
          <a:xfrm>
            <a:off x="6477000" y="3200400"/>
            <a:ext cx="2286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Methane's heat-trapping power vs CO2 over 20 years (IPCC AR6)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91CB8-DED1-8E7F-5CCC-EB584D9D8912}"/>
              </a:ext>
            </a:extLst>
          </p:cNvPr>
          <p:cNvSpPr/>
          <p:nvPr/>
        </p:nvSpPr>
        <p:spPr>
          <a:xfrm>
            <a:off x="9144000" y="2286000"/>
            <a:ext cx="2540000" cy="1905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FB30B6-DFD3-B21F-AA2F-5706E33DC264}"/>
              </a:ext>
            </a:extLst>
          </p:cNvPr>
          <p:cNvSpPr txBox="1"/>
          <p:nvPr/>
        </p:nvSpPr>
        <p:spPr>
          <a:xfrm>
            <a:off x="9144000" y="2514600"/>
            <a:ext cx="254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48BB78"/>
                </a:solidFill>
                <a:latin typeface="Segoe UI" panose="020B0502040204020203" pitchFamily="34" charset="0"/>
              </a:rPr>
              <a:t>30%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419B6-31A7-5A37-E0CD-A9F91A2D2ECB}"/>
              </a:ext>
            </a:extLst>
          </p:cNvPr>
          <p:cNvSpPr txBox="1"/>
          <p:nvPr/>
        </p:nvSpPr>
        <p:spPr>
          <a:xfrm>
            <a:off x="9271000" y="3200400"/>
            <a:ext cx="228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Of O&amp;G methane emissions abatable at zero net cost (IEA)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F8A4F-5539-B012-042D-1AE51E2CE1ED}"/>
              </a:ext>
            </a:extLst>
          </p:cNvPr>
          <p:cNvSpPr txBox="1"/>
          <p:nvPr/>
        </p:nvSpPr>
        <p:spPr>
          <a:xfrm>
            <a:off x="762000" y="46990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The barrier is not the economics of the fix. It is finding the leak fast enough, cheaply enough, and reliably enough to act on it.</a:t>
            </a:r>
            <a:endParaRPr lang="en-IN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47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9E736C-84D0-43FB-9637-7AF2BBACDAC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9C29F-E478-1217-B4AD-F8ADFA21A189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Why Now - Regulatory Pressure Is Real</a:t>
            </a:r>
            <a:endParaRPr lang="en-IN" sz="3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36F11-0241-84DC-98B1-C503B0E91411}"/>
              </a:ext>
            </a:extLst>
          </p:cNvPr>
          <p:cNvSpPr/>
          <p:nvPr/>
        </p:nvSpPr>
        <p:spPr>
          <a:xfrm>
            <a:off x="762000" y="152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BB220-88D5-7DA9-AC43-D6985E9EF770}"/>
              </a:ext>
            </a:extLst>
          </p:cNvPr>
          <p:cNvSpPr txBox="1"/>
          <p:nvPr/>
        </p:nvSpPr>
        <p:spPr>
          <a:xfrm>
            <a:off x="1016000" y="1841500"/>
            <a:ext cx="139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137B2-A396-C958-05A4-F31000A5BD19}"/>
              </a:ext>
            </a:extLst>
          </p:cNvPr>
          <p:cNvSpPr txBox="1"/>
          <p:nvPr/>
        </p:nvSpPr>
        <p:spPr>
          <a:xfrm>
            <a:off x="2540000" y="1689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EU Methane Regulation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B1095-EB40-7B3A-303B-510076F340A5}"/>
              </a:ext>
            </a:extLst>
          </p:cNvPr>
          <p:cNvSpPr txBox="1"/>
          <p:nvPr/>
        </p:nvSpPr>
        <p:spPr>
          <a:xfrm>
            <a:off x="5969000" y="1752600"/>
            <a:ext cx="508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>
                <a:solidFill>
                  <a:srgbClr val="94A3B8"/>
                </a:solidFill>
                <a:latin typeface="Segoe UI" panose="020B0502040204020203" pitchFamily="34" charset="0"/>
              </a:rPr>
              <a:t>Non-compliant gas imports face market access restriction by 2030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7EAF5D-F994-1FBD-3492-8F64AEC2470B}"/>
              </a:ext>
            </a:extLst>
          </p:cNvPr>
          <p:cNvSpPr/>
          <p:nvPr/>
        </p:nvSpPr>
        <p:spPr>
          <a:xfrm>
            <a:off x="762000" y="279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AF33E2-40BF-97D8-327B-4C121670FAED}"/>
              </a:ext>
            </a:extLst>
          </p:cNvPr>
          <p:cNvSpPr txBox="1"/>
          <p:nvPr/>
        </p:nvSpPr>
        <p:spPr>
          <a:xfrm>
            <a:off x="1016000" y="3111500"/>
            <a:ext cx="139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007BA-4828-6A09-B981-90C1991CCF50}"/>
              </a:ext>
            </a:extLst>
          </p:cNvPr>
          <p:cNvSpPr txBox="1"/>
          <p:nvPr/>
        </p:nvSpPr>
        <p:spPr>
          <a:xfrm>
            <a:off x="2540000" y="2959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US EPA OOOOb/c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596BF-107A-91BF-B711-7DA93A37066F}"/>
              </a:ext>
            </a:extLst>
          </p:cNvPr>
          <p:cNvSpPr txBox="1"/>
          <p:nvPr/>
        </p:nvSpPr>
        <p:spPr>
          <a:xfrm>
            <a:off x="5969000" y="3022600"/>
            <a:ext cx="508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Mandates leak detection and repair, incl. satellite-triggered super-emitter response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157D11-BBBE-B853-FF54-20DFE37C0A76}"/>
              </a:ext>
            </a:extLst>
          </p:cNvPr>
          <p:cNvSpPr/>
          <p:nvPr/>
        </p:nvSpPr>
        <p:spPr>
          <a:xfrm>
            <a:off x="762000" y="406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E8459-4544-DD50-A783-086104020FC9}"/>
              </a:ext>
            </a:extLst>
          </p:cNvPr>
          <p:cNvSpPr txBox="1"/>
          <p:nvPr/>
        </p:nvSpPr>
        <p:spPr>
          <a:xfrm>
            <a:off x="1016000" y="4381500"/>
            <a:ext cx="139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Ongoing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57F33-7240-359C-C9EB-A1A1AC4244C3}"/>
              </a:ext>
            </a:extLst>
          </p:cNvPr>
          <p:cNvSpPr txBox="1"/>
          <p:nvPr/>
        </p:nvSpPr>
        <p:spPr>
          <a:xfrm>
            <a:off x="2540000" y="4229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OGMP 2.0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35D82-2809-D028-F7DC-AF521BDC99D0}"/>
              </a:ext>
            </a:extLst>
          </p:cNvPr>
          <p:cNvSpPr txBox="1"/>
          <p:nvPr/>
        </p:nvSpPr>
        <p:spPr>
          <a:xfrm>
            <a:off x="5969000" y="4292600"/>
            <a:ext cx="508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140+ operators committed to measurement-based, not estimated, reporting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4D97E6-52F5-94A2-DF0C-12E9EDFED20F}"/>
              </a:ext>
            </a:extLst>
          </p:cNvPr>
          <p:cNvSpPr/>
          <p:nvPr/>
        </p:nvSpPr>
        <p:spPr>
          <a:xfrm>
            <a:off x="762000" y="533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94073-E9E6-1836-06F3-8057128FEA5E}"/>
              </a:ext>
            </a:extLst>
          </p:cNvPr>
          <p:cNvSpPr txBox="1"/>
          <p:nvPr/>
        </p:nvSpPr>
        <p:spPr>
          <a:xfrm>
            <a:off x="1016000" y="5651500"/>
            <a:ext cx="139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2021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11FCCF-351C-FE84-F220-B49F77530B7A}"/>
              </a:ext>
            </a:extLst>
          </p:cNvPr>
          <p:cNvSpPr txBox="1"/>
          <p:nvPr/>
        </p:nvSpPr>
        <p:spPr>
          <a:xfrm>
            <a:off x="2540000" y="5499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Global Methane Pledge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DCA4C3-7F91-46E9-48C4-938D9BA5185F}"/>
              </a:ext>
            </a:extLst>
          </p:cNvPr>
          <p:cNvSpPr txBox="1"/>
          <p:nvPr/>
        </p:nvSpPr>
        <p:spPr>
          <a:xfrm>
            <a:off x="5969000" y="5562600"/>
            <a:ext cx="508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159 countries, 30% cut by 2030 - emissions have plateaued, not dropped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3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A46795-5454-CD5C-96B2-CD34DF05BDC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B4C39-3FB4-6E14-2777-EF679B63C664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Detection Exists. Reliability Does Not.</a:t>
            </a:r>
            <a:endParaRPr lang="en-IN" sz="3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0677E3-102A-6AD0-93FF-953E9ACC988D}"/>
              </a:ext>
            </a:extLst>
          </p:cNvPr>
          <p:cNvSpPr/>
          <p:nvPr/>
        </p:nvSpPr>
        <p:spPr>
          <a:xfrm>
            <a:off x="1651000" y="1905000"/>
            <a:ext cx="4064000" cy="1905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D32B9-9077-385D-9482-B3375766C5FC}"/>
              </a:ext>
            </a:extLst>
          </p:cNvPr>
          <p:cNvSpPr txBox="1"/>
          <p:nvPr/>
        </p:nvSpPr>
        <p:spPr>
          <a:xfrm>
            <a:off x="1651000" y="2133600"/>
            <a:ext cx="406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ED8936"/>
                </a:solidFill>
                <a:latin typeface="Segoe UI" panose="020B0502040204020203" pitchFamily="34" charset="0"/>
              </a:rPr>
              <a:t>58%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60735-4B1F-A236-33C6-104CD076DCD8}"/>
              </a:ext>
            </a:extLst>
          </p:cNvPr>
          <p:cNvSpPr txBox="1"/>
          <p:nvPr/>
        </p:nvSpPr>
        <p:spPr>
          <a:xfrm>
            <a:off x="1778000" y="2819400"/>
            <a:ext cx="381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Accuracy across 9 satellite systems on 82 identical controlled methane releases (Stanford single-blind study)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13B7E-A5F7-5A4E-AE48-A99CDA5363C0}"/>
              </a:ext>
            </a:extLst>
          </p:cNvPr>
          <p:cNvSpPr/>
          <p:nvPr/>
        </p:nvSpPr>
        <p:spPr>
          <a:xfrm>
            <a:off x="6350000" y="1905000"/>
            <a:ext cx="4064000" cy="1905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6E269-4359-F694-B717-A65D7AA50877}"/>
              </a:ext>
            </a:extLst>
          </p:cNvPr>
          <p:cNvSpPr txBox="1"/>
          <p:nvPr/>
        </p:nvSpPr>
        <p:spPr>
          <a:xfrm>
            <a:off x="6350000" y="2133600"/>
            <a:ext cx="406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F56565"/>
                </a:solidFill>
                <a:latin typeface="Segoe UI" panose="020B0502040204020203" pitchFamily="34" charset="0"/>
              </a:rPr>
              <a:t>12%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E0AE6-E0B0-4849-9231-02B0C2005F6A}"/>
              </a:ext>
            </a:extLst>
          </p:cNvPr>
          <p:cNvSpPr txBox="1"/>
          <p:nvPr/>
        </p:nvSpPr>
        <p:spPr>
          <a:xfrm>
            <a:off x="6477000" y="28194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Of confirmed leak alerts through the UN's own MARS system get any response at all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8BC0D-0699-DC44-B55D-CFEB61BB19F3}"/>
              </a:ext>
            </a:extLst>
          </p:cNvPr>
          <p:cNvSpPr txBox="1"/>
          <p:nvPr/>
        </p:nvSpPr>
        <p:spPr>
          <a:xfrm>
            <a:off x="762000" y="4445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This is not a sensing problem anymore. It is an AI-reliability problem and an accountability problem - and that is what TerraTrace is built to close.</a:t>
            </a:r>
            <a:endParaRPr lang="en-IN" sz="2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39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C2F11F-9342-8839-204A-5B056D4D8AE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4B29D-D41D-6230-D03B-7C4B9565B0B7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Competitive Landscape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CC6022-6BA1-B24F-A5D9-2072EF941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2540"/>
              </p:ext>
            </p:extLst>
          </p:nvPr>
        </p:nvGraphicFramePr>
        <p:xfrm>
          <a:off x="762000" y="1397000"/>
          <a:ext cx="10668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68664173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15519277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6708970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Company</a:t>
                      </a:r>
                    </a:p>
                  </a:txBody>
                  <a:tcPr>
                    <a:solidFill>
                      <a:srgbClr val="634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Model</a:t>
                      </a:r>
                    </a:p>
                  </a:txBody>
                  <a:tcPr>
                    <a:solidFill>
                      <a:srgbClr val="634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Key Fact</a:t>
                      </a:r>
                    </a:p>
                  </a:txBody>
                  <a:tcPr>
                    <a:solidFill>
                      <a:srgbClr val="63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05084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AIRMO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Aircraft + satellite campaigns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Zero satellites in orbit today, launching 2027</a:t>
                      </a:r>
                      <a:endParaRPr lang="en-IN" sz="13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08306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Kayrros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TROPOMI + AI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Now owned by Energy Aspects, a trading-data firm</a:t>
                      </a:r>
                      <a:endParaRPr lang="en-IN" sz="13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8729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Arolytics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Workflow / aggregation layer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Not a detection company - integrates 125+ sources</a:t>
                      </a:r>
                      <a:endParaRPr lang="en-IN" sz="13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59387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GHGSat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Tasked nanosatellites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~100-240 kg/hr detection limit, premium pricing</a:t>
                      </a:r>
                      <a:endParaRPr lang="en-IN" sz="13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669367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TerraTrace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Free continuous satellite AI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Unrationed coverage, zero launch risk, ships today</a:t>
                      </a:r>
                      <a:endParaRPr lang="en-IN" sz="13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8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7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F6AF67-3880-056C-8F5F-D4161472354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15CC6-5BDC-1299-E22F-44CF441DE398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Our Differentiation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FBFDF-2FC1-4C71-C15C-67E4BAEDB27A}"/>
              </a:ext>
            </a:extLst>
          </p:cNvPr>
          <p:cNvSpPr/>
          <p:nvPr/>
        </p:nvSpPr>
        <p:spPr>
          <a:xfrm>
            <a:off x="762000" y="1651000"/>
            <a:ext cx="3302000" cy="3302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7573D-F9DE-329C-7E5C-5CAFF1312BD6}"/>
              </a:ext>
            </a:extLst>
          </p:cNvPr>
          <p:cNvSpPr/>
          <p:nvPr/>
        </p:nvSpPr>
        <p:spPr>
          <a:xfrm>
            <a:off x="762000" y="1651000"/>
            <a:ext cx="3302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FCF6C-D4DD-C6AF-2CCD-B9E639ECD78A}"/>
              </a:ext>
            </a:extLst>
          </p:cNvPr>
          <p:cNvSpPr txBox="1"/>
          <p:nvPr/>
        </p:nvSpPr>
        <p:spPr>
          <a:xfrm>
            <a:off x="952500" y="1841500"/>
            <a:ext cx="76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22D3EE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19545-E7A3-A8CE-480B-B7AB82A5D730}"/>
              </a:ext>
            </a:extLst>
          </p:cNvPr>
          <p:cNvSpPr txBox="1"/>
          <p:nvPr/>
        </p:nvSpPr>
        <p:spPr>
          <a:xfrm>
            <a:off x="952500" y="2476500"/>
            <a:ext cx="2921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Unrationed coverage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2E79F-655A-71C3-44DB-821ADE76F8E6}"/>
              </a:ext>
            </a:extLst>
          </p:cNvPr>
          <p:cNvSpPr txBox="1"/>
          <p:nvPr/>
        </p:nvSpPr>
        <p:spPr>
          <a:xfrm>
            <a:off x="952500" y="31115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Runs on already-orbiting free imagery. Every facility monitored on every pass - no booking, no waitlist, no minimum contract.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37975-FD4C-AFFB-3815-7CA6AD1A44B1}"/>
              </a:ext>
            </a:extLst>
          </p:cNvPr>
          <p:cNvSpPr/>
          <p:nvPr/>
        </p:nvSpPr>
        <p:spPr>
          <a:xfrm>
            <a:off x="4445000" y="1651000"/>
            <a:ext cx="3302000" cy="3302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02F58B-C048-B1B6-C953-DD4A9E476904}"/>
              </a:ext>
            </a:extLst>
          </p:cNvPr>
          <p:cNvSpPr/>
          <p:nvPr/>
        </p:nvSpPr>
        <p:spPr>
          <a:xfrm>
            <a:off x="4445000" y="1651000"/>
            <a:ext cx="3302000" cy="762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42CC1-F24E-DE45-E2CD-6EC0E459F9CD}"/>
              </a:ext>
            </a:extLst>
          </p:cNvPr>
          <p:cNvSpPr txBox="1"/>
          <p:nvPr/>
        </p:nvSpPr>
        <p:spPr>
          <a:xfrm>
            <a:off x="4635500" y="1841500"/>
            <a:ext cx="76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6346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337680-C3DE-C910-8F13-2474FB5222A5}"/>
              </a:ext>
            </a:extLst>
          </p:cNvPr>
          <p:cNvSpPr txBox="1"/>
          <p:nvPr/>
        </p:nvSpPr>
        <p:spPr>
          <a:xfrm>
            <a:off x="4635500" y="2476500"/>
            <a:ext cx="2921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Deliverable now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37D7-78EC-E1E7-355D-270C9E7AF684}"/>
              </a:ext>
            </a:extLst>
          </p:cNvPr>
          <p:cNvSpPr txBox="1"/>
          <p:nvPr/>
        </p:nvSpPr>
        <p:spPr>
          <a:xfrm>
            <a:off x="4635500" y="31115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No hardware or launch risk. Ships today as a software problem, not a bet on a 2027 satellite that has not flown yet.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5DCD3-47BF-FC64-80F7-F21FBB274F8C}"/>
              </a:ext>
            </a:extLst>
          </p:cNvPr>
          <p:cNvSpPr/>
          <p:nvPr/>
        </p:nvSpPr>
        <p:spPr>
          <a:xfrm>
            <a:off x="8128000" y="1651000"/>
            <a:ext cx="3302000" cy="3302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E9D66F-D294-9BED-5B49-3928C27EA360}"/>
              </a:ext>
            </a:extLst>
          </p:cNvPr>
          <p:cNvSpPr/>
          <p:nvPr/>
        </p:nvSpPr>
        <p:spPr>
          <a:xfrm>
            <a:off x="8128000" y="1651000"/>
            <a:ext cx="3302000" cy="76200"/>
          </a:xfrm>
          <a:prstGeom prst="rect">
            <a:avLst/>
          </a:prstGeom>
          <a:solidFill>
            <a:srgbClr val="48BB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CD4FD-6623-BEF9-3FC9-AA18A9C8F9BC}"/>
              </a:ext>
            </a:extLst>
          </p:cNvPr>
          <p:cNvSpPr txBox="1"/>
          <p:nvPr/>
        </p:nvSpPr>
        <p:spPr>
          <a:xfrm>
            <a:off x="8318500" y="1841500"/>
            <a:ext cx="76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48BB78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A8F26-703D-78C3-CB4A-E41C5CC94382}"/>
              </a:ext>
            </a:extLst>
          </p:cNvPr>
          <p:cNvSpPr txBox="1"/>
          <p:nvPr/>
        </p:nvSpPr>
        <p:spPr>
          <a:xfrm>
            <a:off x="8318500" y="2476500"/>
            <a:ext cx="2921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Serves the underserved tier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BF7D2-036E-1BDF-B1AF-9B9D354F749C}"/>
              </a:ext>
            </a:extLst>
          </p:cNvPr>
          <p:cNvSpPr txBox="1"/>
          <p:nvPr/>
        </p:nvSpPr>
        <p:spPr>
          <a:xfrm>
            <a:off x="8318500" y="31115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Small-to-mid operators and emerging-market regulators that AIRMO, Kayrros and GHGSat structurally price out.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99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053194-289C-C24E-EA19-91B0AB25B5B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2CB57-6B6E-4DF8-A137-D658975EA14C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Our Solution - The Four-Step Pipeline</a:t>
            </a:r>
            <a:endParaRPr lang="en-IN" sz="3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0FFFBD-77A0-92B0-DD71-26F92BF27157}"/>
              </a:ext>
            </a:extLst>
          </p:cNvPr>
          <p:cNvSpPr/>
          <p:nvPr/>
        </p:nvSpPr>
        <p:spPr>
          <a:xfrm>
            <a:off x="762000" y="1905000"/>
            <a:ext cx="2540000" cy="3556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35310-35F5-4C18-C728-5A0A82455F37}"/>
              </a:ext>
            </a:extLst>
          </p:cNvPr>
          <p:cNvSpPr/>
          <p:nvPr/>
        </p:nvSpPr>
        <p:spPr>
          <a:xfrm>
            <a:off x="762000" y="1905000"/>
            <a:ext cx="2540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02F64-934E-ADB5-D384-616EF62C5CE6}"/>
              </a:ext>
            </a:extLst>
          </p:cNvPr>
          <p:cNvSpPr txBox="1"/>
          <p:nvPr/>
        </p:nvSpPr>
        <p:spPr>
          <a:xfrm>
            <a:off x="952500" y="2159000"/>
            <a:ext cx="127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2D3EE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C4457-2534-0FBB-E34D-920F092260AF}"/>
              </a:ext>
            </a:extLst>
          </p:cNvPr>
          <p:cNvSpPr txBox="1"/>
          <p:nvPr/>
        </p:nvSpPr>
        <p:spPr>
          <a:xfrm>
            <a:off x="952500" y="2730500"/>
            <a:ext cx="2159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Satellite Ingestion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640F4-451B-3D7D-95C7-DFE7C02C781C}"/>
              </a:ext>
            </a:extLst>
          </p:cNvPr>
          <p:cNvSpPr txBox="1"/>
          <p:nvPr/>
        </p:nvSpPr>
        <p:spPr>
          <a:xfrm>
            <a:off x="952500" y="3492500"/>
            <a:ext cx="2159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Sentinel-2 (10m, 5-day revisit) + Landsat 8/9 (30m, 16-day revisit), SWIR bands 11/12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E2E6A-7A8D-222B-6841-8E9CD19F408A}"/>
              </a:ext>
            </a:extLst>
          </p:cNvPr>
          <p:cNvSpPr txBox="1"/>
          <p:nvPr/>
        </p:nvSpPr>
        <p:spPr>
          <a:xfrm>
            <a:off x="3365500" y="3175000"/>
            <a:ext cx="381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600" b="1">
                <a:solidFill>
                  <a:srgbClr val="6346FF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1A2C21-6504-B8CC-7B4A-99172DE0FCB1}"/>
              </a:ext>
            </a:extLst>
          </p:cNvPr>
          <p:cNvSpPr/>
          <p:nvPr/>
        </p:nvSpPr>
        <p:spPr>
          <a:xfrm>
            <a:off x="3619500" y="1905000"/>
            <a:ext cx="2540000" cy="3556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723C16-4A3E-372B-D44E-071B626D36C9}"/>
              </a:ext>
            </a:extLst>
          </p:cNvPr>
          <p:cNvSpPr/>
          <p:nvPr/>
        </p:nvSpPr>
        <p:spPr>
          <a:xfrm>
            <a:off x="3619500" y="1905000"/>
            <a:ext cx="2540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ECB47-F20D-CFC2-4068-67341ED96133}"/>
              </a:ext>
            </a:extLst>
          </p:cNvPr>
          <p:cNvSpPr txBox="1"/>
          <p:nvPr/>
        </p:nvSpPr>
        <p:spPr>
          <a:xfrm>
            <a:off x="3810000" y="2159000"/>
            <a:ext cx="127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2D3EE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1DDF9-2192-2DA8-2324-23843F7ADF4B}"/>
              </a:ext>
            </a:extLst>
          </p:cNvPr>
          <p:cNvSpPr txBox="1"/>
          <p:nvPr/>
        </p:nvSpPr>
        <p:spPr>
          <a:xfrm>
            <a:off x="3810000" y="2730500"/>
            <a:ext cx="2159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AI Spectral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A1662-5255-5C2E-C4FC-9FE123CEEF72}"/>
              </a:ext>
            </a:extLst>
          </p:cNvPr>
          <p:cNvSpPr txBox="1"/>
          <p:nvPr/>
        </p:nvSpPr>
        <p:spPr>
          <a:xfrm>
            <a:off x="3810000" y="3492500"/>
            <a:ext cx="2159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>
                <a:solidFill>
                  <a:srgbClr val="94A3B8"/>
                </a:solidFill>
                <a:latin typeface="Segoe UI" panose="020B0502040204020203" pitchFamily="34" charset="0"/>
              </a:rPr>
              <a:t>CNN/ViT model, cloud and aerosol filtering, multitemporal baseline comparison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2950DE-9666-7E0F-D55B-1C1FF2427546}"/>
              </a:ext>
            </a:extLst>
          </p:cNvPr>
          <p:cNvSpPr txBox="1"/>
          <p:nvPr/>
        </p:nvSpPr>
        <p:spPr>
          <a:xfrm>
            <a:off x="6223000" y="3175000"/>
            <a:ext cx="381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600" b="1">
                <a:solidFill>
                  <a:srgbClr val="6346FF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43DD5-D053-C80A-1E27-EA0B8A524929}"/>
              </a:ext>
            </a:extLst>
          </p:cNvPr>
          <p:cNvSpPr/>
          <p:nvPr/>
        </p:nvSpPr>
        <p:spPr>
          <a:xfrm>
            <a:off x="6477000" y="1905000"/>
            <a:ext cx="2540000" cy="3556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16A5B5-8044-B5D9-90C8-8B74257861CA}"/>
              </a:ext>
            </a:extLst>
          </p:cNvPr>
          <p:cNvSpPr/>
          <p:nvPr/>
        </p:nvSpPr>
        <p:spPr>
          <a:xfrm>
            <a:off x="6477000" y="1905000"/>
            <a:ext cx="2540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F7C971-DADF-8E71-7293-67C56C984DF5}"/>
              </a:ext>
            </a:extLst>
          </p:cNvPr>
          <p:cNvSpPr txBox="1"/>
          <p:nvPr/>
        </p:nvSpPr>
        <p:spPr>
          <a:xfrm>
            <a:off x="6667500" y="2159000"/>
            <a:ext cx="127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2D3EE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F11A5-BF4F-36A8-57BB-BF58A00CBE0B}"/>
              </a:ext>
            </a:extLst>
          </p:cNvPr>
          <p:cNvSpPr txBox="1"/>
          <p:nvPr/>
        </p:nvSpPr>
        <p:spPr>
          <a:xfrm>
            <a:off x="6667500" y="2730500"/>
            <a:ext cx="2159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Plume Attribution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30F5DC-DF8D-C6D4-8C2D-7464E9FF7669}"/>
              </a:ext>
            </a:extLst>
          </p:cNvPr>
          <p:cNvSpPr txBox="1"/>
          <p:nvPr/>
        </p:nvSpPr>
        <p:spPr>
          <a:xfrm>
            <a:off x="6667500" y="3492500"/>
            <a:ext cx="2159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Facility database cross-reference, ERA5 wind back-tracing, kg/hr emission estimate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43FF99-0C7D-3797-A4DD-DEA5453E0509}"/>
              </a:ext>
            </a:extLst>
          </p:cNvPr>
          <p:cNvSpPr txBox="1"/>
          <p:nvPr/>
        </p:nvSpPr>
        <p:spPr>
          <a:xfrm>
            <a:off x="9080500" y="3175000"/>
            <a:ext cx="381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600" b="1">
                <a:solidFill>
                  <a:srgbClr val="6346FF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319CA-762F-C7B7-714F-693C25A4AF42}"/>
              </a:ext>
            </a:extLst>
          </p:cNvPr>
          <p:cNvSpPr/>
          <p:nvPr/>
        </p:nvSpPr>
        <p:spPr>
          <a:xfrm>
            <a:off x="9334500" y="1905000"/>
            <a:ext cx="2540000" cy="3556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5789-3A41-8055-E915-960736786E93}"/>
              </a:ext>
            </a:extLst>
          </p:cNvPr>
          <p:cNvSpPr/>
          <p:nvPr/>
        </p:nvSpPr>
        <p:spPr>
          <a:xfrm>
            <a:off x="9334500" y="1905000"/>
            <a:ext cx="2540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566C85-8398-F69B-83D3-5A42B5D9A168}"/>
              </a:ext>
            </a:extLst>
          </p:cNvPr>
          <p:cNvSpPr txBox="1"/>
          <p:nvPr/>
        </p:nvSpPr>
        <p:spPr>
          <a:xfrm>
            <a:off x="9525000" y="2159000"/>
            <a:ext cx="127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22D3EE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35C377-1C53-6A41-FB38-D53D804DB9D6}"/>
              </a:ext>
            </a:extLst>
          </p:cNvPr>
          <p:cNvSpPr txBox="1"/>
          <p:nvPr/>
        </p:nvSpPr>
        <p:spPr>
          <a:xfrm>
            <a:off x="9525000" y="2730500"/>
            <a:ext cx="2159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Alert and Reporting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5340F-2DF2-46E4-F916-D57910232878}"/>
              </a:ext>
            </a:extLst>
          </p:cNvPr>
          <p:cNvSpPr txBox="1"/>
          <p:nvPr/>
        </p:nvSpPr>
        <p:spPr>
          <a:xfrm>
            <a:off x="9525000" y="3492500"/>
            <a:ext cx="2159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24-48h alert with GPS, confidence score, OGMP 2.0 / EU Methane Regulation format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8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E0323-876C-8612-779D-5B3EFB93BFA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DC5F3-12F6-58AE-4784-92410326A07C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Product - Data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F1551-B216-B96F-0F47-2367A47031F0}"/>
              </a:ext>
            </a:extLst>
          </p:cNvPr>
          <p:cNvSpPr txBox="1"/>
          <p:nvPr/>
        </p:nvSpPr>
        <p:spPr>
          <a:xfrm>
            <a:off x="762000" y="12065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The default view: satellite pass cadence, real imagery, and the live 4-step AI pipeline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C660E-EA2C-B12D-0227-4D14B4440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67" y="1841500"/>
            <a:ext cx="846666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3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4FCD12-EEC0-D69F-B41C-737A0C1B6AA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DF8FD-E39C-4E77-1927-E21AD3D2856A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Product - Map and Events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C2CC0-30D9-E8FD-4255-62D129701BB8}"/>
              </a:ext>
            </a:extLst>
          </p:cNvPr>
          <p:cNvSpPr txBox="1"/>
          <p:nvPr/>
        </p:nvSpPr>
        <p:spPr>
          <a:xfrm>
            <a:off x="762000" y="12065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Facility-level incident map with severity filters and a dedicated super-emitter panel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0D422-EEB8-B7AC-5D52-283E516E2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67" y="1841500"/>
            <a:ext cx="846666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2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2CAA27-0081-F610-D713-14FC12D8BC1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85854-EBC8-E494-267B-0524D27D226B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Product - Executive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B214A-4AEB-484E-837E-4A005FC2035C}"/>
              </a:ext>
            </a:extLst>
          </p:cNvPr>
          <p:cNvSpPr txBox="1"/>
          <p:nvPr/>
        </p:nvSpPr>
        <p:spPr>
          <a:xfrm>
            <a:off x="762000" y="12065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Total CH4 emissions, risk score, asset health, and financial impact at a glance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2DD22-8ECE-3122-D754-E07C664D9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67" y="1841500"/>
            <a:ext cx="846666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5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B2412-2971-4AE9-DC2C-DFB2E831177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D2AE6-8FBF-15FD-53FB-E7F142E4B4F9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Product - Carbon Credit Exchange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C8B7E-121C-FD50-C75F-EF2266A91423}"/>
              </a:ext>
            </a:extLst>
          </p:cNvPr>
          <p:cNvSpPr txBox="1"/>
          <p:nvPr/>
        </p:nvSpPr>
        <p:spPr>
          <a:xfrm>
            <a:off x="762000" y="12065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Network-wide surplus and deficit, auto-matched trades, live status tracking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CEEBF-4579-C3FA-B482-588BC6CB0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67" y="1841500"/>
            <a:ext cx="846666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95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CE6AA-DE5E-2810-A853-702508905F9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AF973-0391-D7D5-1005-8F051E91A308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Carbon Credit Exchange - How It Works</a:t>
            </a:r>
            <a:endParaRPr lang="en-IN" sz="3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1214F-06B7-3FEF-B3FF-A964A31F337A}"/>
              </a:ext>
            </a:extLst>
          </p:cNvPr>
          <p:cNvSpPr txBox="1"/>
          <p:nvPr/>
        </p:nvSpPr>
        <p:spPr>
          <a:xfrm>
            <a:off x="762000" y="12065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Modeled on real cap-and-trade mechanics, not invented rules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278AF-3401-C598-B661-350D3B3ABF47}"/>
              </a:ext>
            </a:extLst>
          </p:cNvPr>
          <p:cNvSpPr txBox="1"/>
          <p:nvPr/>
        </p:nvSpPr>
        <p:spPr>
          <a:xfrm>
            <a:off x="762000" y="19050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22D3EE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EB919-0462-3913-BCFB-D5D16A22BC0A}"/>
              </a:ext>
            </a:extLst>
          </p:cNvPr>
          <p:cNvSpPr txBox="1"/>
          <p:nvPr/>
        </p:nvSpPr>
        <p:spPr>
          <a:xfrm>
            <a:off x="1079500" y="1905000"/>
            <a:ext cx="50165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Each branch gets an allowance set at 85% of business-as-usual emissions - a shrinking cap, same mechanic as the EU ETS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19408-2E34-C43A-3CB8-8AA020A69719}"/>
              </a:ext>
            </a:extLst>
          </p:cNvPr>
          <p:cNvSpPr txBox="1"/>
          <p:nvPr/>
        </p:nvSpPr>
        <p:spPr>
          <a:xfrm>
            <a:off x="762000" y="25146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22D3EE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5C5A4-2AF6-1413-5E47-ED243FA73869}"/>
              </a:ext>
            </a:extLst>
          </p:cNvPr>
          <p:cNvSpPr txBox="1"/>
          <p:nvPr/>
        </p:nvSpPr>
        <p:spPr>
          <a:xfrm>
            <a:off x="1079500" y="2514600"/>
            <a:ext cx="5016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Verified avoided emissions reduce projected emissions, freeing up a sellable surplus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4D8BA-384E-D389-B69F-C02234F23940}"/>
              </a:ext>
            </a:extLst>
          </p:cNvPr>
          <p:cNvSpPr txBox="1"/>
          <p:nvPr/>
        </p:nvSpPr>
        <p:spPr>
          <a:xfrm>
            <a:off x="762000" y="31242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22D3EE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C4D465-4CA9-35BB-5DF4-4D5F390697D7}"/>
              </a:ext>
            </a:extLst>
          </p:cNvPr>
          <p:cNvSpPr txBox="1"/>
          <p:nvPr/>
        </p:nvSpPr>
        <p:spPr>
          <a:xfrm>
            <a:off x="1079500" y="3124200"/>
            <a:ext cx="5016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External network-partner operators included, so trading is genuinely cross-company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05F74-F707-53E9-706D-2F6D2B7C391E}"/>
              </a:ext>
            </a:extLst>
          </p:cNvPr>
          <p:cNvSpPr txBox="1"/>
          <p:nvPr/>
        </p:nvSpPr>
        <p:spPr>
          <a:xfrm>
            <a:off x="6604000" y="19050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6346FF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21867-6621-8192-1391-CD60B63B686B}"/>
              </a:ext>
            </a:extLst>
          </p:cNvPr>
          <p:cNvSpPr txBox="1"/>
          <p:nvPr/>
        </p:nvSpPr>
        <p:spPr>
          <a:xfrm>
            <a:off x="6921500" y="1905000"/>
            <a:ext cx="45085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Reference price: USD 45/tCO2e - blended between voluntary (USD 8-30) and compliance (USD 72-85) market rates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C71101-DF4E-4A40-EF54-00E28EA5B5B3}"/>
              </a:ext>
            </a:extLst>
          </p:cNvPr>
          <p:cNvSpPr txBox="1"/>
          <p:nvPr/>
        </p:nvSpPr>
        <p:spPr>
          <a:xfrm>
            <a:off x="6604000" y="25146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6346FF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E08F7-B9BC-E03C-CE0D-23B3C915554B}"/>
              </a:ext>
            </a:extLst>
          </p:cNvPr>
          <p:cNvSpPr txBox="1"/>
          <p:nvPr/>
        </p:nvSpPr>
        <p:spPr>
          <a:xfrm>
            <a:off x="6921500" y="2514600"/>
            <a:ext cx="45085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Trades move through Suggested to Proposed to Accepted to Retired - once retired, a credit is gone for good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521C4-A0D3-BD60-6425-F06AF1F34AA5}"/>
              </a:ext>
            </a:extLst>
          </p:cNvPr>
          <p:cNvSpPr txBox="1"/>
          <p:nvPr/>
        </p:nvSpPr>
        <p:spPr>
          <a:xfrm>
            <a:off x="6604000" y="31242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6346FF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CF56C-88FB-3823-9564-3C8E899148B4}"/>
              </a:ext>
            </a:extLst>
          </p:cNvPr>
          <p:cNvSpPr txBox="1"/>
          <p:nvPr/>
        </p:nvSpPr>
        <p:spPr>
          <a:xfrm>
            <a:off x="6921500" y="3124200"/>
            <a:ext cx="4508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Prevents double-counting, exactly like Verra and Gold Standard registries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892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CF5A33-45D3-0B29-4022-B4E9ED464CB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AA836-EDC7-3569-A6B8-E752D032E034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Business Model and Go-to-Market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93277-3134-B1BE-4688-60E37538E498}"/>
              </a:ext>
            </a:extLst>
          </p:cNvPr>
          <p:cNvSpPr txBox="1"/>
          <p:nvPr/>
        </p:nvSpPr>
        <p:spPr>
          <a:xfrm>
            <a:off x="762000" y="12065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2D3EE"/>
                </a:solidFill>
                <a:latin typeface="Segoe UI" panose="020B0502040204020203" pitchFamily="34" charset="0"/>
              </a:rPr>
              <a:t>MRV technology market for methane projected at USD 2-5B+ by 2030</a:t>
            </a:r>
            <a:endParaRPr lang="en-IN" sz="1600" b="1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3F248-005C-DF0E-C94B-A3091FE24837}"/>
              </a:ext>
            </a:extLst>
          </p:cNvPr>
          <p:cNvSpPr txBox="1"/>
          <p:nvPr/>
        </p:nvSpPr>
        <p:spPr>
          <a:xfrm>
            <a:off x="762000" y="19050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48BB78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06323-E29D-F934-1C95-0923937638CB}"/>
              </a:ext>
            </a:extLst>
          </p:cNvPr>
          <p:cNvSpPr txBox="1"/>
          <p:nvPr/>
        </p:nvSpPr>
        <p:spPr>
          <a:xfrm>
            <a:off x="1079500" y="1905000"/>
            <a:ext cx="10350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Primary customers: small-to-mid oil and gas operators and emerging-market regulators priced out of enterprise-only competitors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0B981-33DD-0F59-E2C1-108DAE839DD8}"/>
              </a:ext>
            </a:extLst>
          </p:cNvPr>
          <p:cNvSpPr txBox="1"/>
          <p:nvPr/>
        </p:nvSpPr>
        <p:spPr>
          <a:xfrm>
            <a:off x="762000" y="25146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48BB78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227FD-D637-36D7-7C72-DC7424C73B7B}"/>
              </a:ext>
            </a:extLst>
          </p:cNvPr>
          <p:cNvSpPr txBox="1"/>
          <p:nvPr/>
        </p:nvSpPr>
        <p:spPr>
          <a:xfrm>
            <a:off x="1079500" y="2514600"/>
            <a:ext cx="10350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Secondary channel: integration with workflow platforms like Arolytics, feeding detections into existing LDAR tooling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0511F-4C58-F8C9-BA44-62E4C02158D7}"/>
              </a:ext>
            </a:extLst>
          </p:cNvPr>
          <p:cNvSpPr txBox="1"/>
          <p:nvPr/>
        </p:nvSpPr>
        <p:spPr>
          <a:xfrm>
            <a:off x="762000" y="31242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48BB78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C8ACE-77A9-5618-8674-BBCC9D279D53}"/>
              </a:ext>
            </a:extLst>
          </p:cNvPr>
          <p:cNvSpPr txBox="1"/>
          <p:nvPr/>
        </p:nvSpPr>
        <p:spPr>
          <a:xfrm>
            <a:off x="1079500" y="3124200"/>
            <a:ext cx="10350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Positioning: continuous low-cost screening layer that feeds high-confidence candidates to premium verification providers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FA696-C201-16C9-04AA-EDAF81236D8E}"/>
              </a:ext>
            </a:extLst>
          </p:cNvPr>
          <p:cNvSpPr txBox="1"/>
          <p:nvPr/>
        </p:nvSpPr>
        <p:spPr>
          <a:xfrm>
            <a:off x="762000" y="3733800"/>
            <a:ext cx="25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48BB78"/>
                </a:solidFill>
                <a:latin typeface="Segoe UI" panose="020B0502040204020203" pitchFamily="34" charset="0"/>
              </a:rPr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74D81-2323-9CCC-BE37-25BF1FF1388F}"/>
              </a:ext>
            </a:extLst>
          </p:cNvPr>
          <p:cNvSpPr txBox="1"/>
          <p:nvPr/>
        </p:nvSpPr>
        <p:spPr>
          <a:xfrm>
            <a:off x="1079500" y="3733800"/>
            <a:ext cx="10350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Pricing: multi-year base contract plus usage-based scaling - not cancel-anytime, matching OGMP 2.0's need for a consistent trend record</a:t>
            </a:r>
            <a:endParaRPr lang="en-IN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9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AF90DF-17CB-A3FD-B48C-953A4A1BD5C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4DDFB-754D-EEFF-2317-80FA6718BA3B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311D8-0217-A7F6-7476-5F64FE4DF0E0}"/>
              </a:ext>
            </a:extLst>
          </p:cNvPr>
          <p:cNvSpPr/>
          <p:nvPr/>
        </p:nvSpPr>
        <p:spPr>
          <a:xfrm>
            <a:off x="762000" y="152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0046D-E288-1654-94B4-9203C2955DAE}"/>
              </a:ext>
            </a:extLst>
          </p:cNvPr>
          <p:cNvSpPr txBox="1"/>
          <p:nvPr/>
        </p:nvSpPr>
        <p:spPr>
          <a:xfrm>
            <a:off x="1016000" y="1879600"/>
            <a:ext cx="279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Phase 1 - Now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0D17E-150C-711F-4E6D-03379C44C059}"/>
              </a:ext>
            </a:extLst>
          </p:cNvPr>
          <p:cNvSpPr txBox="1"/>
          <p:nvPr/>
        </p:nvSpPr>
        <p:spPr>
          <a:xfrm>
            <a:off x="4064000" y="1752600"/>
            <a:ext cx="6985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Validated product narrative, full-featured mock-data prototype across all 7 modules plus Carbon Exchange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2BB62-B141-3C12-74A8-9C8669303193}"/>
              </a:ext>
            </a:extLst>
          </p:cNvPr>
          <p:cNvSpPr/>
          <p:nvPr/>
        </p:nvSpPr>
        <p:spPr>
          <a:xfrm>
            <a:off x="762000" y="279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D8FAA-869E-8D59-C43C-BAEFA15CFA60}"/>
              </a:ext>
            </a:extLst>
          </p:cNvPr>
          <p:cNvSpPr txBox="1"/>
          <p:nvPr/>
        </p:nvSpPr>
        <p:spPr>
          <a:xfrm>
            <a:off x="1016000" y="3149600"/>
            <a:ext cx="279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Phase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D8A8D-31DF-416F-CDC1-96AAC71B9E6E}"/>
              </a:ext>
            </a:extLst>
          </p:cNvPr>
          <p:cNvSpPr txBox="1"/>
          <p:nvPr/>
        </p:nvSpPr>
        <p:spPr>
          <a:xfrm>
            <a:off x="4064000" y="3022600"/>
            <a:ext cx="6985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Real Sentinel-2/Landsat ingestion; train and validate a super-emitter model against controlled-release data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AC5C4-8DEF-B32B-6FED-79A505A88C78}"/>
              </a:ext>
            </a:extLst>
          </p:cNvPr>
          <p:cNvSpPr/>
          <p:nvPr/>
        </p:nvSpPr>
        <p:spPr>
          <a:xfrm>
            <a:off x="762000" y="406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6800F-B939-A6A3-BC3B-5ABD9D7DA206}"/>
              </a:ext>
            </a:extLst>
          </p:cNvPr>
          <p:cNvSpPr txBox="1"/>
          <p:nvPr/>
        </p:nvSpPr>
        <p:spPr>
          <a:xfrm>
            <a:off x="1016000" y="4419600"/>
            <a:ext cx="279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Phase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D8383-76D2-5777-180E-B76E03027DCB}"/>
              </a:ext>
            </a:extLst>
          </p:cNvPr>
          <p:cNvSpPr txBox="1"/>
          <p:nvPr/>
        </p:nvSpPr>
        <p:spPr>
          <a:xfrm>
            <a:off x="4064000" y="4292600"/>
            <a:ext cx="6985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Pilot with 1-2 small-to-mid operators or a national regulator; real OGMP 2.0-formatted reporting output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182F7B-3C8C-F6B6-B237-2B223B17CEFF}"/>
              </a:ext>
            </a:extLst>
          </p:cNvPr>
          <p:cNvSpPr/>
          <p:nvPr/>
        </p:nvSpPr>
        <p:spPr>
          <a:xfrm>
            <a:off x="762000" y="5334000"/>
            <a:ext cx="10668000" cy="10795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A0EDD-504C-220F-4DB6-AFCE7FAFE093}"/>
              </a:ext>
            </a:extLst>
          </p:cNvPr>
          <p:cNvSpPr txBox="1"/>
          <p:nvPr/>
        </p:nvSpPr>
        <p:spPr>
          <a:xfrm>
            <a:off x="1016000" y="5689600"/>
            <a:ext cx="279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22D3EE"/>
                </a:solidFill>
                <a:latin typeface="Segoe UI" panose="020B0502040204020203" pitchFamily="34" charset="0"/>
              </a:rPr>
              <a:t>Phase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E19C9D-58F4-39EA-97A0-6CE31C2F167A}"/>
              </a:ext>
            </a:extLst>
          </p:cNvPr>
          <p:cNvSpPr txBox="1"/>
          <p:nvPr/>
        </p:nvSpPr>
        <p:spPr>
          <a:xfrm>
            <a:off x="4064000" y="5562600"/>
            <a:ext cx="698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Registry integration for real, auditable carbon credits rather than modeled ones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832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3CC0F2-1C1F-B1A8-5167-F18AAA62BC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FFE160-2F09-1BBC-3D78-D61D72EAA06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34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62019-D896-DF19-5FC3-C901A5CAD2F5}"/>
              </a:ext>
            </a:extLst>
          </p:cNvPr>
          <p:cNvSpPr txBox="1"/>
          <p:nvPr/>
        </p:nvSpPr>
        <p:spPr>
          <a:xfrm>
            <a:off x="1270000" y="2032000"/>
            <a:ext cx="9652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30% of oil and gas methane leaks could be fixed at zero net cost.</a:t>
            </a:r>
            <a:endParaRPr lang="en-IN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749FF-D939-51EE-ED0E-245462D40F14}"/>
              </a:ext>
            </a:extLst>
          </p:cNvPr>
          <p:cNvSpPr txBox="1"/>
          <p:nvPr/>
        </p:nvSpPr>
        <p:spPr>
          <a:xfrm>
            <a:off x="1270000" y="2921000"/>
            <a:ext cx="965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22D3EE"/>
                </a:solidFill>
                <a:latin typeface="Segoe UI" panose="020B0502040204020203" pitchFamily="34" charset="0"/>
              </a:rPr>
              <a:t>The technology gap is not the fix - it is finding the leak fast enough, cheaply enough, and reliably enough to act on it.</a:t>
            </a:r>
            <a:endParaRPr lang="en-IN" sz="2000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2460E-F0C4-D012-812F-9BFDEC591832}"/>
              </a:ext>
            </a:extLst>
          </p:cNvPr>
          <p:cNvSpPr txBox="1"/>
          <p:nvPr/>
        </p:nvSpPr>
        <p:spPr>
          <a:xfrm>
            <a:off x="1270000" y="41910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200" b="1">
                <a:solidFill>
                  <a:srgbClr val="48BB78"/>
                </a:solidFill>
                <a:latin typeface="Segoe UI" panose="020B0502040204020203" pitchFamily="34" charset="0"/>
              </a:rPr>
              <a:t>TerraTrace closes that gap.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72172-067A-A903-9D33-EC9D32630101}"/>
              </a:ext>
            </a:extLst>
          </p:cNvPr>
          <p:cNvSpPr txBox="1"/>
          <p:nvPr/>
        </p:nvSpPr>
        <p:spPr>
          <a:xfrm>
            <a:off x="1270000" y="53340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>
                <a:solidFill>
                  <a:srgbClr val="94A3B8"/>
                </a:solidFill>
                <a:latin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755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Custom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Dhwani Kariya</dc:creator>
  <cp:lastModifiedBy>Dhwani Kariya</cp:lastModifiedBy>
  <cp:revision>1</cp:revision>
  <dcterms:created xsi:type="dcterms:W3CDTF">2026-07-02T23:22:15Z</dcterms:created>
  <dcterms:modified xsi:type="dcterms:W3CDTF">2026-07-02T23:22:15Z</dcterms:modified>
</cp:coreProperties>
</file>